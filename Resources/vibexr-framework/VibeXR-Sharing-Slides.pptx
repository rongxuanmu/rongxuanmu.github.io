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b4035251-1a15-9cac-674b-65429c4a4cec}">
          <p14:sldIdLst>
            <p14:sldId id="256"/>
          </p14:sldIdLst>
        </p14:section>
        <p14:section name="WebXR" id="{11209e70-131c-a5eb-30ac-04e8a7a73a77}">
          <p14:sldIdLst>
            <p14:sldId id="257"/>
            <p14:sldId id="258"/>
          </p14:sldIdLst>
        </p14:section>
        <p14:section name="The problem" id="{3c63a3c8-3d59-fbee-98f1-77d910a6a163}">
          <p14:sldIdLst>
            <p14:sldId id="259"/>
            <p14:sldId id="260"/>
          </p14:sldIdLst>
        </p14:section>
        <p14:section name="VibeXR" id="{32c316cc-1a60-4b4d-2854-9e0afb73e393}">
          <p14:sldIdLst>
            <p14:sldId id="261"/>
            <p14:sldId id="262"/>
            <p14:sldId id="263"/>
          </p14:sldIdLst>
        </p14:section>
        <p14:section name="Projects" id="{17d7c169-4a42-c1df-5a51-8f938075864c}">
          <p14:sldIdLst>
            <p14:sldId id="264"/>
            <p14:sldId id="265"/>
          </p14:sldIdLst>
        </p14:section>
        <p14:section name="Close" id="{620b9de0-d119-13c6-895f-408dd5eddb03}">
          <p14:sldIdLst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VibeXR is the interaction framework under all my browser XR prototypes. Today: what WebXR is, why it's hard to build for, and how VibeXR makes every new idea start from interaction that already feels right.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WebXR is a web standard: a page asks the browser for an immersive session and gets head pose, input and a render loop. No install, no store.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loop is the point: say an idea, get one HTML file, push or paste it, refresh in the headset. Minutes, not builds.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all good at what they are for. What none of them hands you is interaction that already feels right on every input.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same five things come back on every project. Interaction especially: a ray, a pinch, a grab, a poke and a button, written again each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file, one Enter button, one interaction model, and as many worlds as you like. The framework is the stable part; a project only writes its world.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input becomes the same kind of interactor. Hover decides near or far: within reach you touch, beyond it the ray takes over. Objects get the same events whatever drove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 whole world: a cube you can grab near or far, scale with two hands, and tap. The tap fires the same way for a hand, a controller, a gaze pinch or a mouse.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Everything here runs in a headset browser from a link. Click any picture to open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rules that came out of building these: passthrough first, diorama scale, the console rides along, and light enough for glasses.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Voice notes from inside the headset go to an AI coding agent, which edits only the world. Every change is checked headless, tried on the dev page, then released.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 demo: the playground first, then Microduck and Roadster Night. The video on this slide is Microduck XR in a headset, as a fallback if the live demo can't run.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X_COVER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417320"/>
            <a:ext cx="384048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3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783080"/>
            <a:ext cx="38404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6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6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788920"/>
            <a:ext cx="374904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X_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804672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b="1" spc="3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804672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4754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VibeXR · Rongxuan Mu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hyperlink" Target="https://rongxuanmu.com" TargetMode="External"/><Relationship Id="rId1" Type="http://schemas.openxmlformats.org/officeDocument/2006/relationships/video" Target="../media/media-1-1.mp4"/><Relationship Id="rId2" Type="http://schemas.microsoft.com/office/2007/relationships/media" Target="../media/media-1-1.mp4"/><Relationship Id="rId3" Type="http://schemas.openxmlformats.org/officeDocument/2006/relationships/image" Target="../media/image-1-3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rongxuanmu.com/microduck-xr/" TargetMode="External"/><Relationship Id="rId4" Type="http://schemas.openxmlformats.org/officeDocument/2006/relationships/hyperlink" Target="https://rongxuanmu.com/robot-zoo-xr/" TargetMode="External"/><Relationship Id="rId6" Type="http://schemas.openxmlformats.org/officeDocument/2006/relationships/hyperlink" Target="https://rongxuanmu.com/roadster-xr/" TargetMode="External"/><Relationship Id="rId8" Type="http://schemas.openxmlformats.org/officeDocument/2006/relationships/hyperlink" Target="https://rongxuanmu.com/archiscape/" TargetMode="External"/><Relationship Id="rId10" Type="http://schemas.openxmlformats.org/officeDocument/2006/relationships/hyperlink" Target="https://rongxuanmu.com/physics-cabinet/" TargetMode="External"/><Relationship Id="rId12" Type="http://schemas.openxmlformats.org/officeDocument/2006/relationships/hyperlink" Target="https://rongxuanmu.com/dream-cage/" TargetMode="External"/><Relationship Id="rId14" Type="http://schemas.openxmlformats.org/officeDocument/2006/relationships/hyperlink" Target="https://rongxuanmu.com/immersive-vibe/" TargetMode="External"/><Relationship Id="rId16" Type="http://schemas.openxmlformats.org/officeDocument/2006/relationships/hyperlink" Target="https://rongxuanmu.com/vibexr/" TargetMode="External"/><Relationship Id="rId1" Type="http://schemas.openxmlformats.org/officeDocument/2006/relationships/image" Target="../media/image-9-1.jpg"/><Relationship Id="rId3" Type="http://schemas.openxmlformats.org/officeDocument/2006/relationships/image" Target="../media/image-9-2.jpg"/><Relationship Id="rId5" Type="http://schemas.openxmlformats.org/officeDocument/2006/relationships/image" Target="../media/image-9-3.jpg"/><Relationship Id="rId7" Type="http://schemas.openxmlformats.org/officeDocument/2006/relationships/image" Target="../media/image-9-4.jpg"/><Relationship Id="rId9" Type="http://schemas.openxmlformats.org/officeDocument/2006/relationships/image" Target="../media/image-9-5.jpg"/><Relationship Id="rId11" Type="http://schemas.openxmlformats.org/officeDocument/2006/relationships/image" Target="../media/image-9-6.jpg"/><Relationship Id="rId13" Type="http://schemas.openxmlformats.org/officeDocument/2006/relationships/image" Target="../media/image-9-7.png"/><Relationship Id="rId15" Type="http://schemas.openxmlformats.org/officeDocument/2006/relationships/image" Target="../media/image-9-8.jpg"/><Relationship Id="rId17" Type="http://schemas.openxmlformats.org/officeDocument/2006/relationships/slideLayout" Target="../slideLayouts/slideLayout3.xml"/><Relationship Id="rId1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hyperlink" Target="https://rongxuanmu.com/vibexr/" TargetMode="External"/><Relationship Id="rId2" Type="http://schemas.openxmlformats.org/officeDocument/2006/relationships/hyperlink" Target="https://rongxuanmu.com/microduck-xr/" TargetMode="External"/><Relationship Id="rId3" Type="http://schemas.openxmlformats.org/officeDocument/2006/relationships/hyperlink" Target="https://rongxuanmu.com/roadster-xr/" TargetMode="External"/><Relationship Id="rId4" Type="http://schemas.openxmlformats.org/officeDocument/2006/relationships/hyperlink" Target="https://rongxuanmu.com/Works/VibeXRFramework.html" TargetMode="External"/><Relationship Id="rId8" Type="http://schemas.openxmlformats.org/officeDocument/2006/relationships/hyperlink" Target="https://rongxuanmu.com" TargetMode="External"/><Relationship Id="rId5" Type="http://schemas.openxmlformats.org/officeDocument/2006/relationships/video" Target="../media/media-12-1.mp4"/><Relationship Id="rId6" Type="http://schemas.microsoft.com/office/2007/relationships/media" Target="../media/media-12-1.mp4"/><Relationship Id="rId7" Type="http://schemas.openxmlformats.org/officeDocument/2006/relationships/image" Target="../media/image-12-3.pn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over-video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4572000" y="1417320"/>
            <a:ext cx="4023360" cy="226314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0" type="body" hasCustomPrompt="1"/>
          </p:nvPr>
        </p:nvSpPr>
        <p:spPr>
          <a:xfrm>
            <a:off x="548640" y="14173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SHARING · OCTOBER 2026</a:t>
            </a:r>
            <a:endParaRPr lang="en-US" sz="1200" dirty="0"/>
          </a:p>
        </p:txBody>
      </p:sp>
      <p:sp>
        <p:nvSpPr>
          <p:cNvPr id="4" name="Text 0"/>
          <p:cNvSpPr/>
          <p:nvPr>
            <p:ph idx="101" type="title" hasCustomPrompt="1"/>
          </p:nvPr>
        </p:nvSpPr>
        <p:spPr>
          <a:xfrm>
            <a:off x="548640" y="178308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b="1" dirty="0">
                <a:solidFill>
                  <a:schemeClr val="tx1"/>
                </a:solidFill>
              </a:rPr>
              <a:t>VibeXR</a:t>
            </a:r>
            <a:endParaRPr lang="en-US" sz="6000" dirty="0"/>
          </a:p>
        </p:txBody>
      </p:sp>
      <p:sp>
        <p:nvSpPr>
          <p:cNvPr id="5" name="Text 0"/>
          <p:cNvSpPr/>
          <p:nvPr>
            <p:ph idx="102" type="body" hasCustomPrompt="1"/>
          </p:nvPr>
        </p:nvSpPr>
        <p:spPr>
          <a:xfrm>
            <a:off x="548640" y="2788920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An interaction framework for vibe-coded WebXR. From a link to hands-on XR in one HTML file.</a:t>
            </a:r>
            <a:endParaRPr lang="en-US" sz="2000" dirty="0"/>
          </a:p>
        </p:txBody>
      </p:sp>
      <p:sp>
        <p:nvSpPr>
          <p:cNvPr id="6" name="cover-byline"/>
          <p:cNvSpPr txBox="1"/>
          <p:nvPr/>
        </p:nvSpPr>
        <p:spPr>
          <a:xfrm>
            <a:off x="548640" y="43434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Rongxuan Mu · </a:t>
            </a:r>
            <a:pPr indent="0" marL="0">
              <a:buNone/>
            </a:pPr>
            <a:r>
              <a:rPr lang="en-US" sz="1200" u="sng" dirty="0">
                <a:solidFill>
                  <a:schemeClr val="accent1"/>
                </a:solidFill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rongxuanmu.com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01 · WEBXR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The browser's door into headsets</a:t>
            </a:r>
            <a:endParaRPr lang="en-US" sz="3000" dirty="0"/>
          </a:p>
        </p:txBody>
      </p:sp>
      <p:sp>
        <p:nvSpPr>
          <p:cNvPr id="5" name="lead"/>
          <p:cNvSpPr txBox="1"/>
          <p:nvPr/>
        </p:nvSpPr>
        <p:spPr>
          <a:xfrm>
            <a:off x="548640" y="1417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WebXR is the web standard that lets a page take over a headset: open a link, tap Enter, you are in.</a:t>
            </a:r>
            <a:endParaRPr lang="en-US" sz="1600" dirty="0"/>
          </a:p>
        </p:txBody>
      </p:sp>
      <p:sp>
        <p:nvSpPr>
          <p:cNvPr id="6" name="card-1"/>
          <p:cNvSpPr/>
          <p:nvPr/>
        </p:nvSpPr>
        <p:spPr>
          <a:xfrm>
            <a:off x="548640" y="2194560"/>
            <a:ext cx="2499360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7" name="card-text-2"/>
          <p:cNvSpPr txBox="1"/>
          <p:nvPr/>
        </p:nvSpPr>
        <p:spPr>
          <a:xfrm>
            <a:off x="713232" y="2322576"/>
            <a:ext cx="2170176" cy="189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chemeClr val="accent2"/>
                </a:solidFill>
              </a:rPr>
              <a:t>SESSIONS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VR and AR</a:t>
            </a:r>
            <a:endParaRPr lang="en-US" sz="1000" dirty="0"/>
          </a:p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immersive-vr for full immersion, immersive-ar for the room through passthrough.</a:t>
            </a:r>
            <a:endParaRPr lang="en-US" sz="1000" dirty="0"/>
          </a:p>
        </p:txBody>
      </p:sp>
      <p:sp>
        <p:nvSpPr>
          <p:cNvPr id="8" name="card-3"/>
          <p:cNvSpPr/>
          <p:nvPr/>
        </p:nvSpPr>
        <p:spPr>
          <a:xfrm>
            <a:off x="3322320" y="2194560"/>
            <a:ext cx="2499360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card-text-4"/>
          <p:cNvSpPr txBox="1"/>
          <p:nvPr/>
        </p:nvSpPr>
        <p:spPr>
          <a:xfrm>
            <a:off x="3486912" y="2322576"/>
            <a:ext cx="2170176" cy="189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chemeClr val="accent2"/>
                </a:solidFill>
              </a:rPr>
              <a:t>INPUT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Hands to gaze</a:t>
            </a:r>
            <a:endParaRPr lang="en-US" sz="1000" dirty="0"/>
          </a:p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Head pose, controllers, tracked hands with 25 joints, and gaze-and-pinch on Vision Pro.</a:t>
            </a:r>
            <a:endParaRPr lang="en-US" sz="1000" dirty="0"/>
          </a:p>
        </p:txBody>
      </p:sp>
      <p:sp>
        <p:nvSpPr>
          <p:cNvPr id="10" name="card-5"/>
          <p:cNvSpPr/>
          <p:nvPr/>
        </p:nvSpPr>
        <p:spPr>
          <a:xfrm>
            <a:off x="6096000" y="2194560"/>
            <a:ext cx="2499360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1" name="card-text-6"/>
          <p:cNvSpPr txBox="1"/>
          <p:nvPr/>
        </p:nvSpPr>
        <p:spPr>
          <a:xfrm>
            <a:off x="6260592" y="2322576"/>
            <a:ext cx="2170176" cy="189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chemeClr val="accent2"/>
                </a:solidFill>
              </a:rPr>
              <a:t>REACH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No install</a:t>
            </a:r>
            <a:endParaRPr lang="en-US" sz="1000" dirty="0"/>
          </a:p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Quest, PICO, Vision Pro, Galaxy XR and Android XR browsers. A URL is the whole distribution.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02 · WHY IT MATTERS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The fastest loop from idea to headset</a:t>
            </a:r>
            <a:endParaRPr lang="en-US" sz="3000" dirty="0"/>
          </a:p>
        </p:txBody>
      </p:sp>
      <p:sp>
        <p:nvSpPr>
          <p:cNvPr id="5" name="node-7"/>
          <p:cNvSpPr/>
          <p:nvPr/>
        </p:nvSpPr>
        <p:spPr>
          <a:xfrm>
            <a:off x="548640" y="1600200"/>
            <a:ext cx="1691640" cy="777240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" name="node-text-8"/>
          <p:cNvSpPr txBox="1"/>
          <p:nvPr/>
        </p:nvSpPr>
        <p:spPr>
          <a:xfrm>
            <a:off x="603504" y="1600200"/>
            <a:ext cx="15819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Idea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said out loud</a:t>
            </a:r>
            <a:endParaRPr lang="en-US" sz="1400" dirty="0"/>
          </a:p>
        </p:txBody>
      </p:sp>
      <p:sp>
        <p:nvSpPr>
          <p:cNvPr id="7" name="arrow-9"/>
          <p:cNvSpPr/>
          <p:nvPr/>
        </p:nvSpPr>
        <p:spPr>
          <a:xfrm>
            <a:off x="2295144" y="1988820"/>
            <a:ext cx="320040" cy="0"/>
          </a:xfrm>
          <a:prstGeom prst="line">
            <a:avLst/>
          </a:prstGeom>
          <a:noFill/>
          <a:ln w="1905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8" name="node-10"/>
          <p:cNvSpPr/>
          <p:nvPr/>
        </p:nvSpPr>
        <p:spPr>
          <a:xfrm>
            <a:off x="2670048" y="1600200"/>
            <a:ext cx="1691640" cy="777240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node-text-11"/>
          <p:cNvSpPr txBox="1"/>
          <p:nvPr/>
        </p:nvSpPr>
        <p:spPr>
          <a:xfrm>
            <a:off x="2724912" y="1600200"/>
            <a:ext cx="15819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One HTML file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written with AI</a:t>
            </a:r>
            <a:endParaRPr lang="en-US" sz="1400" dirty="0"/>
          </a:p>
        </p:txBody>
      </p:sp>
      <p:sp>
        <p:nvSpPr>
          <p:cNvPr id="10" name="arrow-12"/>
          <p:cNvSpPr/>
          <p:nvPr/>
        </p:nvSpPr>
        <p:spPr>
          <a:xfrm>
            <a:off x="4416552" y="1988820"/>
            <a:ext cx="320040" cy="0"/>
          </a:xfrm>
          <a:prstGeom prst="line">
            <a:avLst/>
          </a:prstGeom>
          <a:noFill/>
          <a:ln w="1905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11" name="node-13"/>
          <p:cNvSpPr/>
          <p:nvPr/>
        </p:nvSpPr>
        <p:spPr>
          <a:xfrm>
            <a:off x="4791456" y="1600200"/>
            <a:ext cx="1691640" cy="777240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2" name="node-text-14"/>
          <p:cNvSpPr txBox="1"/>
          <p:nvPr/>
        </p:nvSpPr>
        <p:spPr>
          <a:xfrm>
            <a:off x="4846320" y="1600200"/>
            <a:ext cx="15819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Push or paste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GitHub Pages · CodePen</a:t>
            </a:r>
            <a:endParaRPr lang="en-US" sz="1400" dirty="0"/>
          </a:p>
        </p:txBody>
      </p:sp>
      <p:sp>
        <p:nvSpPr>
          <p:cNvPr id="13" name="arrow-15"/>
          <p:cNvSpPr/>
          <p:nvPr/>
        </p:nvSpPr>
        <p:spPr>
          <a:xfrm>
            <a:off x="6537960" y="1988820"/>
            <a:ext cx="320040" cy="0"/>
          </a:xfrm>
          <a:prstGeom prst="line">
            <a:avLst/>
          </a:prstGeom>
          <a:noFill/>
          <a:ln w="1905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14" name="node-16"/>
          <p:cNvSpPr/>
          <p:nvPr/>
        </p:nvSpPr>
        <p:spPr>
          <a:xfrm>
            <a:off x="6912864" y="1600200"/>
            <a:ext cx="1691640" cy="777240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 w="25400">
            <a:solidFill>
              <a:schemeClr val="accent1"/>
            </a:solidFill>
            <a:prstDash val="solid"/>
          </a:ln>
        </p:spPr>
      </p:sp>
      <p:sp>
        <p:nvSpPr>
          <p:cNvPr id="15" name="node-text-17"/>
          <p:cNvSpPr txBox="1"/>
          <p:nvPr/>
        </p:nvSpPr>
        <p:spPr>
          <a:xfrm>
            <a:off x="6967728" y="1600200"/>
            <a:ext cx="15819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Headset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refresh and try</a:t>
            </a:r>
            <a:endParaRPr lang="en-US" sz="1400" dirty="0"/>
          </a:p>
        </p:txBody>
      </p:sp>
      <p:sp>
        <p:nvSpPr>
          <p:cNvPr id="16" name="bullets-18"/>
          <p:cNvSpPr txBox="1"/>
          <p:nvPr/>
        </p:nvSpPr>
        <p:spPr>
          <a:xfrm>
            <a:off x="548640" y="2743200"/>
            <a:ext cx="8046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—"/>
            </a:pPr>
            <a:r>
              <a:rPr lang="en-US" sz="1500" b="1" dirty="0">
                <a:solidFill>
                  <a:schemeClr val="tx1"/>
                </a:solidFill>
              </a:rPr>
              <a:t>Minutes, not builds: </a:t>
            </a:r>
            <a:pPr indent="0" marL="0">
              <a:spcAft>
                <a:spcPts val="900"/>
              </a:spcAft>
              <a:buNone/>
            </a:pPr>
            <a:r>
              <a:rPr lang="en-US" sz="1500" dirty="0">
                <a:solidFill>
                  <a:schemeClr val="tx2"/>
                </a:solidFill>
              </a:rPr>
              <a:t>edit, refresh in the headset, feel it.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—"/>
            </a:pPr>
            <a:r>
              <a:rPr lang="en-US" sz="1500" b="1" dirty="0">
                <a:solidFill>
                  <a:schemeClr val="tx1"/>
                </a:solidFill>
              </a:rPr>
              <a:t>Shareable: </a:t>
            </a:r>
            <a:pPr indent="0" marL="0">
              <a:spcAft>
                <a:spcPts val="900"/>
              </a:spcAft>
              <a:buNone/>
            </a:pPr>
            <a:r>
              <a:rPr lang="en-US" sz="1500" dirty="0">
                <a:solidFill>
                  <a:schemeClr val="tx2"/>
                </a:solidFill>
              </a:rPr>
              <a:t>a link works on someone else's device the same day.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—"/>
            </a:pPr>
            <a:r>
              <a:rPr lang="en-US" sz="1500" b="1" dirty="0">
                <a:solidFill>
                  <a:schemeClr val="tx1"/>
                </a:solidFill>
              </a:rPr>
              <a:t>AI-friendly: </a:t>
            </a:r>
            <a:pPr indent="0" marL="0">
              <a:spcAft>
                <a:spcPts val="900"/>
              </a:spcAft>
              <a:buNone/>
            </a:pPr>
            <a:r>
              <a:rPr lang="en-US" sz="1500" dirty="0">
                <a:solidFill>
                  <a:schemeClr val="tx2"/>
                </a:solidFill>
              </a:rPr>
              <a:t>models write HTML and three.js fluently; a single file is easy to read, diff and paste.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03 · WHAT'S OUT THERE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Good engines, thin interaction</a:t>
            </a:r>
            <a:endParaRPr lang="en-US" sz="3000" dirty="0"/>
          </a:p>
        </p:txBody>
      </p:sp>
      <p:graphicFrame>
        <p:nvGraphicFramePr>
          <p:cNvPr id="5" name="framework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80467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743200"/>
                <a:gridCol w="329184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100" kern="0" dirty="0">
                          <a:solidFill>
                            <a:schemeClr val="accent1"/>
                          </a:solidFill>
                        </a:rPr>
                        <a:t>FRAMEWORK</a:t>
                      </a:r>
                      <a:endParaRPr lang="en-US" sz="11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2A2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100" kern="0" dirty="0">
                          <a:solidFill>
                            <a:schemeClr val="accent1"/>
                          </a:solidFill>
                        </a:rPr>
                        <a:t>STRONG AT</a:t>
                      </a:r>
                      <a:endParaRPr lang="en-US" sz="11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2A2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100" kern="0" dirty="0">
                          <a:solidFill>
                            <a:schemeClr val="accent1"/>
                          </a:solidFill>
                        </a:rPr>
                        <a:t>WHAT YOU STILL BUILD YOURSELF</a:t>
                      </a:r>
                      <a:endParaRPr lang="en-US" sz="11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2A2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three.js</a:t>
                      </a:r>
                      <a:endParaRPr lang="en-US" sz="13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2A2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Rendering, a light WebXR manager</a:t>
                      </a:r>
                      <a:endParaRPr lang="en-US" sz="13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2A2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Rays, grabs, pokes, UI, hand logic: all of it</a:t>
                      </a:r>
                      <a:endParaRPr lang="en-US" sz="13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2A2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A-Frame</a:t>
                      </a:r>
                      <a:endParaRPr lang="en-US" sz="13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2A2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HTML-like scenes, quick starts</a:t>
                      </a:r>
                      <a:endParaRPr lang="en-US" sz="13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2A2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Polished near / far interaction across inputs</a:t>
                      </a:r>
                      <a:endParaRPr lang="en-US" sz="13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2A2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Babylon.js</a:t>
                      </a:r>
                      <a:endParaRPr lang="en-US" sz="13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2A2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A full engine with XR features</a:t>
                      </a:r>
                      <a:endParaRPr lang="en-US" sz="13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2A2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Weight and an engine's way of doing things</a:t>
                      </a:r>
                      <a:endParaRPr lang="en-US" sz="13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2A2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React Three Fiber + xr</a:t>
                      </a:r>
                      <a:endParaRPr lang="en-US" sz="13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2A2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Pointer events in XR, React</a:t>
                      </a:r>
                      <a:endParaRPr lang="en-US" sz="13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2A2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An npm / bundler toolchain around every idea</a:t>
                      </a:r>
                      <a:endParaRPr lang="en-US" sz="13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2A2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Unity WebXR export</a:t>
                      </a:r>
                      <a:endParaRPr lang="en-US" sz="13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2A2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Familiar tools and assets</a:t>
                      </a:r>
                      <a:endParaRPr lang="en-US" sz="13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2A2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Heavy builds, slow iteration in a browser</a:t>
                      </a:r>
                      <a:endParaRPr lang="en-US" sz="13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2A2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04 · THE PROBLEMS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Every prototype rebuilds the same things</a:t>
            </a:r>
            <a:endParaRPr lang="en-US" sz="3000" dirty="0"/>
          </a:p>
        </p:txBody>
      </p:sp>
      <p:sp>
        <p:nvSpPr>
          <p:cNvPr id="5" name="num-19"/>
          <p:cNvSpPr/>
          <p:nvPr/>
        </p:nvSpPr>
        <p:spPr>
          <a:xfrm>
            <a:off x="548640" y="1499616"/>
            <a:ext cx="384048" cy="384048"/>
          </a:xfrm>
          <a:prstGeom prst="ellipse">
            <a:avLst/>
          </a:prstGeom>
          <a:solidFill>
            <a:schemeClr val="bg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6" name="num-text-20"/>
          <p:cNvSpPr txBox="1"/>
          <p:nvPr/>
        </p:nvSpPr>
        <p:spPr>
          <a:xfrm>
            <a:off x="548640" y="14996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pain-21"/>
          <p:cNvSpPr txBox="1"/>
          <p:nvPr/>
        </p:nvSpPr>
        <p:spPr>
          <a:xfrm>
            <a:off x="1097280" y="1481328"/>
            <a:ext cx="7498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Interaction is left to you: </a:t>
            </a:r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ray, pinch, grab, poke, two-hand scale and buttons, written again for each project.</a:t>
            </a:r>
            <a:endParaRPr lang="en-US" sz="1400" dirty="0"/>
          </a:p>
        </p:txBody>
      </p:sp>
      <p:sp>
        <p:nvSpPr>
          <p:cNvPr id="8" name="num-22"/>
          <p:cNvSpPr/>
          <p:nvPr/>
        </p:nvSpPr>
        <p:spPr>
          <a:xfrm>
            <a:off x="548640" y="2121408"/>
            <a:ext cx="384048" cy="384048"/>
          </a:xfrm>
          <a:prstGeom prst="ellipse">
            <a:avLst/>
          </a:prstGeom>
          <a:solidFill>
            <a:schemeClr val="bg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9" name="num-text-23"/>
          <p:cNvSpPr txBox="1"/>
          <p:nvPr/>
        </p:nvSpPr>
        <p:spPr>
          <a:xfrm>
            <a:off x="548640" y="21214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2</a:t>
            </a:r>
            <a:endParaRPr lang="en-US" sz="1300" dirty="0"/>
          </a:p>
        </p:txBody>
      </p:sp>
      <p:sp>
        <p:nvSpPr>
          <p:cNvPr id="10" name="pain-24"/>
          <p:cNvSpPr txBox="1"/>
          <p:nvPr/>
        </p:nvSpPr>
        <p:spPr>
          <a:xfrm>
            <a:off x="1097280" y="2103120"/>
            <a:ext cx="7498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Inputs diverge: </a:t>
            </a:r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hands, controllers, Vision Pro's gaze pointer and a desktop mouse each behave differently.</a:t>
            </a:r>
            <a:endParaRPr lang="en-US" sz="1400" dirty="0"/>
          </a:p>
        </p:txBody>
      </p:sp>
      <p:sp>
        <p:nvSpPr>
          <p:cNvPr id="11" name="num-25"/>
          <p:cNvSpPr/>
          <p:nvPr/>
        </p:nvSpPr>
        <p:spPr>
          <a:xfrm>
            <a:off x="548640" y="2743200"/>
            <a:ext cx="384048" cy="384048"/>
          </a:xfrm>
          <a:prstGeom prst="ellipse">
            <a:avLst/>
          </a:prstGeom>
          <a:solidFill>
            <a:schemeClr val="bg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12" name="num-text-26"/>
          <p:cNvSpPr txBox="1"/>
          <p:nvPr/>
        </p:nvSpPr>
        <p:spPr>
          <a:xfrm>
            <a:off x="548640" y="2743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3</a:t>
            </a:r>
            <a:endParaRPr lang="en-US" sz="1300" dirty="0"/>
          </a:p>
        </p:txBody>
      </p:sp>
      <p:sp>
        <p:nvSpPr>
          <p:cNvPr id="13" name="pain-27"/>
          <p:cNvSpPr txBox="1"/>
          <p:nvPr/>
        </p:nvSpPr>
        <p:spPr>
          <a:xfrm>
            <a:off x="1097280" y="2724912"/>
            <a:ext cx="7498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VR-first habits: </a:t>
            </a:r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passthrough is an afterthought, and "VR only" makes no sense on see-through glasses.</a:t>
            </a:r>
            <a:endParaRPr lang="en-US" sz="1400" dirty="0"/>
          </a:p>
        </p:txBody>
      </p:sp>
      <p:sp>
        <p:nvSpPr>
          <p:cNvPr id="14" name="num-28"/>
          <p:cNvSpPr/>
          <p:nvPr/>
        </p:nvSpPr>
        <p:spPr>
          <a:xfrm>
            <a:off x="548640" y="3364992"/>
            <a:ext cx="384048" cy="384048"/>
          </a:xfrm>
          <a:prstGeom prst="ellipse">
            <a:avLst/>
          </a:prstGeom>
          <a:solidFill>
            <a:schemeClr val="bg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15" name="num-text-29"/>
          <p:cNvSpPr txBox="1"/>
          <p:nvPr/>
        </p:nvSpPr>
        <p:spPr>
          <a:xfrm>
            <a:off x="548640" y="33649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4</a:t>
            </a:r>
            <a:endParaRPr lang="en-US" sz="1300" dirty="0"/>
          </a:p>
        </p:txBody>
      </p:sp>
      <p:sp>
        <p:nvSpPr>
          <p:cNvPr id="16" name="pain-30"/>
          <p:cNvSpPr txBox="1"/>
          <p:nvPr/>
        </p:nvSpPr>
        <p:spPr>
          <a:xfrm>
            <a:off x="1097280" y="3346704"/>
            <a:ext cx="7498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Toolchains get in the way: </a:t>
            </a:r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npm, bundlers and frameworks, while AI works best with one file you can paste.</a:t>
            </a:r>
            <a:endParaRPr lang="en-US" sz="1400" dirty="0"/>
          </a:p>
        </p:txBody>
      </p:sp>
      <p:sp>
        <p:nvSpPr>
          <p:cNvPr id="17" name="num-31"/>
          <p:cNvSpPr/>
          <p:nvPr/>
        </p:nvSpPr>
        <p:spPr>
          <a:xfrm>
            <a:off x="548640" y="3986784"/>
            <a:ext cx="384048" cy="384048"/>
          </a:xfrm>
          <a:prstGeom prst="ellipse">
            <a:avLst/>
          </a:prstGeom>
          <a:solidFill>
            <a:schemeClr val="bg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18" name="num-text-32"/>
          <p:cNvSpPr txBox="1"/>
          <p:nvPr/>
        </p:nvSpPr>
        <p:spPr>
          <a:xfrm>
            <a:off x="548640" y="39867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5</a:t>
            </a:r>
            <a:endParaRPr lang="en-US" sz="1300" dirty="0"/>
          </a:p>
        </p:txBody>
      </p:sp>
      <p:sp>
        <p:nvSpPr>
          <p:cNvPr id="19" name="pain-33"/>
          <p:cNvSpPr txBox="1"/>
          <p:nvPr/>
        </p:nvSpPr>
        <p:spPr>
          <a:xfrm>
            <a:off x="1097280" y="3968496"/>
            <a:ext cx="7498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No desk testing: </a:t>
            </a:r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without a headset on, you can't try the interaction at all.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05 · OUR APPROACH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Start from interaction that already feels right</a:t>
            </a:r>
            <a:endParaRPr lang="en-US" sz="3000" dirty="0"/>
          </a:p>
        </p:txBody>
      </p:sp>
      <p:sp>
        <p:nvSpPr>
          <p:cNvPr id="5" name="card-34"/>
          <p:cNvSpPr/>
          <p:nvPr/>
        </p:nvSpPr>
        <p:spPr>
          <a:xfrm>
            <a:off x="548640" y="1554480"/>
            <a:ext cx="1840230" cy="2240280"/>
          </a:xfrm>
          <a:prstGeom prst="roundRect">
            <a:avLst>
              <a:gd name="adj" fmla="val 5963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" name="card-text-35"/>
          <p:cNvSpPr txBox="1"/>
          <p:nvPr/>
        </p:nvSpPr>
        <p:spPr>
          <a:xfrm>
            <a:off x="713232" y="1682496"/>
            <a:ext cx="1511046" cy="1984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1</a:t>
            </a:r>
            <a:endParaRPr lang="en-US" sz="3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file</a:t>
            </a:r>
            <a:endParaRPr lang="en-US" sz="3400" dirty="0"/>
          </a:p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One HTML file on three.js. Paste it into CodePen or push it to a site: that's the build.</a:t>
            </a:r>
            <a:endParaRPr lang="en-US" sz="3400" dirty="0"/>
          </a:p>
        </p:txBody>
      </p:sp>
      <p:sp>
        <p:nvSpPr>
          <p:cNvPr id="7" name="card-36"/>
          <p:cNvSpPr/>
          <p:nvPr/>
        </p:nvSpPr>
        <p:spPr>
          <a:xfrm>
            <a:off x="2617470" y="1554480"/>
            <a:ext cx="1840230" cy="2240280"/>
          </a:xfrm>
          <a:prstGeom prst="roundRect">
            <a:avLst>
              <a:gd name="adj" fmla="val 5963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8" name="card-text-37"/>
          <p:cNvSpPr txBox="1"/>
          <p:nvPr/>
        </p:nvSpPr>
        <p:spPr>
          <a:xfrm>
            <a:off x="2782062" y="1682496"/>
            <a:ext cx="1511046" cy="1984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1</a:t>
            </a:r>
            <a:endParaRPr lang="en-US" sz="3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Enter button</a:t>
            </a:r>
            <a:endParaRPr lang="en-US" sz="3400" dirty="0"/>
          </a:p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AR with passthrough by default; headsets without AR quietly get VR. No "VR only".</a:t>
            </a:r>
            <a:endParaRPr lang="en-US" sz="3400" dirty="0"/>
          </a:p>
        </p:txBody>
      </p:sp>
      <p:sp>
        <p:nvSpPr>
          <p:cNvPr id="9" name="card-38"/>
          <p:cNvSpPr/>
          <p:nvPr/>
        </p:nvSpPr>
        <p:spPr>
          <a:xfrm>
            <a:off x="4686300" y="1554480"/>
            <a:ext cx="1840230" cy="2240280"/>
          </a:xfrm>
          <a:prstGeom prst="roundRect">
            <a:avLst>
              <a:gd name="adj" fmla="val 5963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card-text-39"/>
          <p:cNvSpPr txBox="1"/>
          <p:nvPr/>
        </p:nvSpPr>
        <p:spPr>
          <a:xfrm>
            <a:off x="4850892" y="1682496"/>
            <a:ext cx="1511046" cy="1984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1</a:t>
            </a:r>
            <a:endParaRPr lang="en-US" sz="3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interaction model</a:t>
            </a:r>
            <a:endParaRPr lang="en-US" sz="3400" dirty="0"/>
          </a:p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Hands, controllers, gaze and mouse all point, pinch, poke and grab, near or far.</a:t>
            </a:r>
            <a:endParaRPr lang="en-US" sz="3400" dirty="0"/>
          </a:p>
        </p:txBody>
      </p:sp>
      <p:sp>
        <p:nvSpPr>
          <p:cNvPr id="11" name="card-40"/>
          <p:cNvSpPr/>
          <p:nvPr/>
        </p:nvSpPr>
        <p:spPr>
          <a:xfrm>
            <a:off x="6755130" y="1554480"/>
            <a:ext cx="1840230" cy="2240280"/>
          </a:xfrm>
          <a:prstGeom prst="roundRect">
            <a:avLst>
              <a:gd name="adj" fmla="val 5963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2" name="card-text-41"/>
          <p:cNvSpPr txBox="1"/>
          <p:nvPr/>
        </p:nvSpPr>
        <p:spPr>
          <a:xfrm>
            <a:off x="6919722" y="1682496"/>
            <a:ext cx="1511046" cy="1984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∞</a:t>
            </a:r>
            <a:endParaRPr lang="en-US" sz="3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worlds</a:t>
            </a:r>
            <a:endParaRPr lang="en-US" sz="3400" dirty="0"/>
          </a:p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A project supplies only its world. The framework brings the hands, UI and feel.</a:t>
            </a:r>
            <a:endParaRPr lang="en-US" sz="3400" dirty="0"/>
          </a:p>
        </p:txBody>
      </p:sp>
      <p:sp>
        <p:nvSpPr>
          <p:cNvPr id="13" name="tuning"/>
          <p:cNvSpPr txBox="1"/>
          <p:nvPr/>
        </p:nvSpPr>
        <p:spPr>
          <a:xfrm>
            <a:off x="548640" y="39776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chemeClr val="tx2"/>
                </a:solidFill>
              </a:rPr>
              <a:t>The tuning comes from XR OS interaction design work: when the ray appears, how far a far grab travels, how big a poke volume is, how a hover outline reads on a messy model.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06 · HOW IT WORKS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Four inputs, one interactor, the same events</a:t>
            </a:r>
            <a:endParaRPr lang="en-US" sz="3000" dirty="0"/>
          </a:p>
        </p:txBody>
      </p:sp>
      <p:sp>
        <p:nvSpPr>
          <p:cNvPr id="5" name="node-42"/>
          <p:cNvSpPr/>
          <p:nvPr/>
        </p:nvSpPr>
        <p:spPr>
          <a:xfrm>
            <a:off x="548640" y="1508760"/>
            <a:ext cx="1691640" cy="603504"/>
          </a:xfrm>
          <a:prstGeom prst="roundRect">
            <a:avLst>
              <a:gd name="adj" fmla="val 15152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" name="node-text-43"/>
          <p:cNvSpPr txBox="1"/>
          <p:nvPr/>
        </p:nvSpPr>
        <p:spPr>
          <a:xfrm>
            <a:off x="603504" y="1508760"/>
            <a:ext cx="15819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Hand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pinch · poke · grab</a:t>
            </a:r>
            <a:endParaRPr lang="en-US" sz="1400" dirty="0"/>
          </a:p>
        </p:txBody>
      </p:sp>
      <p:sp>
        <p:nvSpPr>
          <p:cNvPr id="7" name="node-44"/>
          <p:cNvSpPr/>
          <p:nvPr/>
        </p:nvSpPr>
        <p:spPr>
          <a:xfrm>
            <a:off x="548640" y="2258568"/>
            <a:ext cx="1691640" cy="603504"/>
          </a:xfrm>
          <a:prstGeom prst="roundRect">
            <a:avLst>
              <a:gd name="adj" fmla="val 15152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8" name="node-text-45"/>
          <p:cNvSpPr txBox="1"/>
          <p:nvPr/>
        </p:nvSpPr>
        <p:spPr>
          <a:xfrm>
            <a:off x="603504" y="2258568"/>
            <a:ext cx="15819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Controller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trigger · grip · stick</a:t>
            </a:r>
            <a:endParaRPr lang="en-US" sz="1400" dirty="0"/>
          </a:p>
        </p:txBody>
      </p:sp>
      <p:sp>
        <p:nvSpPr>
          <p:cNvPr id="9" name="node-46"/>
          <p:cNvSpPr/>
          <p:nvPr/>
        </p:nvSpPr>
        <p:spPr>
          <a:xfrm>
            <a:off x="548640" y="3008376"/>
            <a:ext cx="1691640" cy="603504"/>
          </a:xfrm>
          <a:prstGeom prst="roundRect">
            <a:avLst>
              <a:gd name="adj" fmla="val 15152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node-text-47"/>
          <p:cNvSpPr txBox="1"/>
          <p:nvPr/>
        </p:nvSpPr>
        <p:spPr>
          <a:xfrm>
            <a:off x="603504" y="3008376"/>
            <a:ext cx="15819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Gaze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Vision Pro pinch</a:t>
            </a:r>
            <a:endParaRPr lang="en-US" sz="1400" dirty="0"/>
          </a:p>
        </p:txBody>
      </p:sp>
      <p:sp>
        <p:nvSpPr>
          <p:cNvPr id="11" name="node-48"/>
          <p:cNvSpPr/>
          <p:nvPr/>
        </p:nvSpPr>
        <p:spPr>
          <a:xfrm>
            <a:off x="548640" y="3758184"/>
            <a:ext cx="1691640" cy="603504"/>
          </a:xfrm>
          <a:prstGeom prst="roundRect">
            <a:avLst>
              <a:gd name="adj" fmla="val 15152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2" name="node-text-49"/>
          <p:cNvSpPr txBox="1"/>
          <p:nvPr/>
        </p:nvSpPr>
        <p:spPr>
          <a:xfrm>
            <a:off x="603504" y="3758184"/>
            <a:ext cx="15819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Mouse · keys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desktop preview</a:t>
            </a:r>
            <a:endParaRPr lang="en-US" sz="1400" dirty="0"/>
          </a:p>
        </p:txBody>
      </p:sp>
      <p:sp>
        <p:nvSpPr>
          <p:cNvPr id="13" name="arrow-50"/>
          <p:cNvSpPr/>
          <p:nvPr/>
        </p:nvSpPr>
        <p:spPr>
          <a:xfrm>
            <a:off x="2331720" y="2944368"/>
            <a:ext cx="457200" cy="0"/>
          </a:xfrm>
          <a:prstGeom prst="line">
            <a:avLst/>
          </a:prstGeom>
          <a:noFill/>
          <a:ln w="1905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14" name="node-51"/>
          <p:cNvSpPr/>
          <p:nvPr/>
        </p:nvSpPr>
        <p:spPr>
          <a:xfrm>
            <a:off x="2880360" y="2487168"/>
            <a:ext cx="1691640" cy="91440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25400">
            <a:solidFill>
              <a:schemeClr val="accent1"/>
            </a:solidFill>
            <a:prstDash val="solid"/>
          </a:ln>
        </p:spPr>
      </p:sp>
      <p:sp>
        <p:nvSpPr>
          <p:cNvPr id="15" name="node-text-52"/>
          <p:cNvSpPr txBox="1"/>
          <p:nvPr/>
        </p:nvSpPr>
        <p:spPr>
          <a:xfrm>
            <a:off x="2935224" y="2487168"/>
            <a:ext cx="15819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Interactor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hover decides: near touch or far ray</a:t>
            </a:r>
            <a:endParaRPr lang="en-US" sz="1400" dirty="0"/>
          </a:p>
        </p:txBody>
      </p:sp>
      <p:sp>
        <p:nvSpPr>
          <p:cNvPr id="16" name="arrow-53"/>
          <p:cNvSpPr/>
          <p:nvPr/>
        </p:nvSpPr>
        <p:spPr>
          <a:xfrm>
            <a:off x="4663440" y="2944368"/>
            <a:ext cx="457200" cy="0"/>
          </a:xfrm>
          <a:prstGeom prst="line">
            <a:avLst/>
          </a:prstGeom>
          <a:noFill/>
          <a:ln w="1905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17" name="card-54"/>
          <p:cNvSpPr/>
          <p:nvPr/>
        </p:nvSpPr>
        <p:spPr>
          <a:xfrm>
            <a:off x="5212080" y="1508760"/>
            <a:ext cx="338328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8" name="card-text-55"/>
          <p:cNvSpPr txBox="1"/>
          <p:nvPr/>
        </p:nvSpPr>
        <p:spPr>
          <a:xfrm>
            <a:off x="5376672" y="1636776"/>
            <a:ext cx="3054096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Interactables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draggable · twoHand · precise · constrain · translateOnly · multi</a:t>
            </a:r>
            <a:endParaRPr lang="en-US" sz="1600" dirty="0"/>
          </a:p>
        </p:txBody>
      </p:sp>
      <p:sp>
        <p:nvSpPr>
          <p:cNvPr id="19" name="card-56"/>
          <p:cNvSpPr/>
          <p:nvPr/>
        </p:nvSpPr>
        <p:spPr>
          <a:xfrm>
            <a:off x="5212080" y="2514600"/>
            <a:ext cx="338328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0" name="card-text-57"/>
          <p:cNvSpPr txBox="1"/>
          <p:nvPr/>
        </p:nvSpPr>
        <p:spPr>
          <a:xfrm>
            <a:off x="5376672" y="2642616"/>
            <a:ext cx="3054096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Events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press · drag · tap · longpress · release · statechange</a:t>
            </a:r>
            <a:endParaRPr lang="en-US" sz="1600" dirty="0"/>
          </a:p>
        </p:txBody>
      </p:sp>
      <p:sp>
        <p:nvSpPr>
          <p:cNvPr id="21" name="card-58"/>
          <p:cNvSpPr/>
          <p:nvPr/>
        </p:nvSpPr>
        <p:spPr>
          <a:xfrm>
            <a:off x="5212080" y="3520440"/>
            <a:ext cx="338328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2" name="card-text-59"/>
          <p:cNvSpPr txBox="1"/>
          <p:nvPr/>
        </p:nvSpPr>
        <p:spPr>
          <a:xfrm>
            <a:off x="5376672" y="3648456"/>
            <a:ext cx="3054096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UI kit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Panels, buttons, sliders, labels, a palm-up hand menu, a sketch board, a log.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07 · BUILD ON IT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A world is a few lines</a:t>
            </a:r>
            <a:endParaRPr lang="en-US" sz="3000" dirty="0"/>
          </a:p>
        </p:txBody>
      </p:sp>
      <p:sp>
        <p:nvSpPr>
          <p:cNvPr id="5" name="code-box"/>
          <p:cNvSpPr/>
          <p:nvPr/>
        </p:nvSpPr>
        <p:spPr>
          <a:xfrm>
            <a:off x="548640" y="1463040"/>
            <a:ext cx="8046720" cy="3108960"/>
          </a:xfrm>
          <a:prstGeom prst="roundRect">
            <a:avLst>
              <a:gd name="adj" fmla="val 3529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" name="code"/>
          <p:cNvSpPr txBox="1"/>
          <p:nvPr/>
        </p:nvSpPr>
        <p:spPr>
          <a:xfrm>
            <a:off x="777240" y="1600200"/>
            <a:ext cx="75895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Hello =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id: </a:t>
            </a:r>
            <a:pPr indent="0" marL="0">
              <a:buNone/>
            </a:pPr>
            <a:r>
              <a:rPr lang="en-US" sz="11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"hello"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init(ctx)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 root, THREE } = ctx;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root.add(</a:t>
            </a:r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THREE.HemisphereLight(0xffffff, 0x222222, 2));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cube = </a:t>
            </a:r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THREE.Mesh(</a:t>
            </a:r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THREE.BoxGeometry(0.1, 0.1, 0.1),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</a:t>
            </a:r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THREE.MeshStandardMaterial());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cube.position.set(0, 1.3, -0.5);  root.add(cube);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grab near or far; two hands rotate and scale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ctx.add(cube, { draggable: </a:t>
            </a:r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twoHand: </a:t>
            </a:r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// one event, whether a hand, a controller, a gaze pinch or a mouse did it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.on(</a:t>
            </a:r>
            <a:pPr indent="0" marL="0">
              <a:buNone/>
            </a:pPr>
            <a:r>
              <a:rPr lang="en-US" sz="11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"tap"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() =&gt; ctx.log(</a:t>
            </a:r>
            <a:pPr indent="0" marL="0">
              <a:buNone/>
            </a:pPr>
            <a:r>
              <a:rPr lang="en-US" sz="11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"tapped"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app.worlds.register(Hello);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08 · BUILT ON IT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Countless worlds, one framework</a:t>
            </a:r>
            <a:endParaRPr lang="en-US" sz="3000" dirty="0"/>
          </a:p>
        </p:txBody>
      </p:sp>
      <p:pic>
        <p:nvPicPr>
          <p:cNvPr id="5" name="shot-60" descr="Microduck XR">
            <a:hlinkClick r:id="rId2" tooltip=""/>
      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417320"/>
            <a:ext cx="1874520" cy="1054418"/>
          </a:xfrm>
          <a:prstGeom prst="rect">
            <a:avLst/>
          </a:prstGeom>
        </p:spPr>
      </p:pic>
      <p:sp>
        <p:nvSpPr>
          <p:cNvPr id="6" name="shot-caption-61"/>
          <p:cNvSpPr txBox="1"/>
          <p:nvPr/>
        </p:nvSpPr>
        <p:spPr>
          <a:xfrm>
            <a:off x="548640" y="2517458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Microduck XR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a real robot policy on your floor</a:t>
            </a:r>
            <a:endParaRPr lang="en-US" sz="1200" dirty="0"/>
          </a:p>
        </p:txBody>
      </p:sp>
      <p:pic>
        <p:nvPicPr>
          <p:cNvPr id="7" name="shot-62" descr="Robot Zoo XR">
            <a:hlinkClick r:id="rId4" tooltip=""/>
      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2606040" y="1417320"/>
            <a:ext cx="1874520" cy="1054418"/>
          </a:xfrm>
          <a:prstGeom prst="rect">
            <a:avLst/>
          </a:prstGeom>
        </p:spPr>
      </p:pic>
      <p:sp>
        <p:nvSpPr>
          <p:cNvPr id="8" name="shot-caption-63"/>
          <p:cNvSpPr txBox="1"/>
          <p:nvPr/>
        </p:nvSpPr>
        <p:spPr>
          <a:xfrm>
            <a:off x="2606040" y="2517458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Robot Zoo XR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humanoids and robot dogs</a:t>
            </a:r>
            <a:endParaRPr lang="en-US" sz="1200" dirty="0"/>
          </a:p>
        </p:txBody>
      </p:sp>
      <p:pic>
        <p:nvPicPr>
          <p:cNvPr id="9" name="shot-64" descr="Roadster Night">
            <a:hlinkClick r:id="rId6" tooltip=""/>
      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663440" y="1417320"/>
            <a:ext cx="1874520" cy="1054418"/>
          </a:xfrm>
          <a:prstGeom prst="rect">
            <a:avLst/>
          </a:prstGeom>
        </p:spPr>
      </p:pic>
      <p:sp>
        <p:nvSpPr>
          <p:cNvPr id="10" name="shot-caption-65"/>
          <p:cNvSpPr txBox="1"/>
          <p:nvPr/>
        </p:nvSpPr>
        <p:spPr>
          <a:xfrm>
            <a:off x="4663440" y="2517458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Roadster Night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a launch event as a diorama</a:t>
            </a:r>
            <a:endParaRPr lang="en-US" sz="1200" dirty="0"/>
          </a:p>
        </p:txBody>
      </p:sp>
      <p:pic>
        <p:nvPicPr>
          <p:cNvPr id="11" name="shot-66" descr="Archiscape">
            <a:hlinkClick r:id="rId8" tooltip=""/>
      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6720840" y="1417320"/>
            <a:ext cx="1874520" cy="1054418"/>
          </a:xfrm>
          <a:prstGeom prst="rect">
            <a:avLst/>
          </a:prstGeom>
        </p:spPr>
      </p:pic>
      <p:sp>
        <p:nvSpPr>
          <p:cNvPr id="12" name="shot-caption-67"/>
          <p:cNvSpPr txBox="1"/>
          <p:nvPr/>
        </p:nvSpPr>
        <p:spPr>
          <a:xfrm>
            <a:off x="6720840" y="2517458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Archiscape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architecture through the ages</a:t>
            </a:r>
            <a:endParaRPr lang="en-US" sz="1200" dirty="0"/>
          </a:p>
        </p:txBody>
      </p:sp>
      <p:pic>
        <p:nvPicPr>
          <p:cNvPr id="13" name="shot-68" descr="Physics Cabinet">
            <a:hlinkClick r:id="rId10" tooltip=""/>
      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548640" y="3038666"/>
            <a:ext cx="1874520" cy="1054418"/>
          </a:xfrm>
          <a:prstGeom prst="rect">
            <a:avLst/>
          </a:prstGeom>
        </p:spPr>
      </p:pic>
      <p:sp>
        <p:nvSpPr>
          <p:cNvPr id="14" name="shot-caption-69"/>
          <p:cNvSpPr txBox="1"/>
          <p:nvPr/>
        </p:nvSpPr>
        <p:spPr>
          <a:xfrm>
            <a:off x="548640" y="4138803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Physics Cabinet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ten experiments in your hands</a:t>
            </a:r>
            <a:endParaRPr lang="en-US" sz="1200" dirty="0"/>
          </a:p>
        </p:txBody>
      </p:sp>
      <p:pic>
        <p:nvPicPr>
          <p:cNvPr id="15" name="shot-70" descr="Dream Cage">
            <a:hlinkClick r:id="rId12" tooltip=""/>
          </p:cNvPr>
          <p:cNvPicPr>
            <a:picLocks noChangeAspect="1"/>
          </p:cNvPicPr>
          <p:nvPr/>
        </p:nvPicPr>
        <p:blipFill>
          <a:blip r:embed="rId11"/>
          <a:srcRect l="0" r="0" t="0" b="0"/>
          <a:stretch/>
        </p:blipFill>
        <p:spPr>
          <a:xfrm>
            <a:off x="2606040" y="3038666"/>
            <a:ext cx="1874520" cy="1054418"/>
          </a:xfrm>
          <a:prstGeom prst="rect">
            <a:avLst/>
          </a:prstGeom>
        </p:spPr>
      </p:pic>
      <p:sp>
        <p:nvSpPr>
          <p:cNvPr id="16" name="shot-caption-71"/>
          <p:cNvSpPr txBox="1"/>
          <p:nvPr/>
        </p:nvSpPr>
        <p:spPr>
          <a:xfrm>
            <a:off x="2606040" y="4138803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Dream Cage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a portal cube puzzle</a:t>
            </a:r>
            <a:endParaRPr lang="en-US" sz="1200" dirty="0"/>
          </a:p>
        </p:txBody>
      </p:sp>
      <p:pic>
        <p:nvPicPr>
          <p:cNvPr id="17" name="shot-72" descr="Immersive Vibe">
            <a:hlinkClick r:id="rId14" tooltip=""/>
          </p:cNvPr>
          <p:cNvPicPr>
            <a:picLocks noChangeAspect="1"/>
          </p:cNvPicPr>
          <p:nvPr/>
        </p:nvPicPr>
        <p:blipFill>
          <a:blip r:embed="rId13"/>
          <a:srcRect l="0" r="0" t="0" b="0"/>
          <a:stretch/>
        </p:blipFill>
        <p:spPr>
          <a:xfrm>
            <a:off x="4663440" y="3038666"/>
            <a:ext cx="1874520" cy="1054418"/>
          </a:xfrm>
          <a:prstGeom prst="rect">
            <a:avLst/>
          </a:prstGeom>
        </p:spPr>
      </p:pic>
      <p:sp>
        <p:nvSpPr>
          <p:cNvPr id="18" name="shot-caption-73"/>
          <p:cNvSpPr txBox="1"/>
          <p:nvPr/>
        </p:nvSpPr>
        <p:spPr>
          <a:xfrm>
            <a:off x="4663440" y="4138803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Immersive Vibe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paintings you step into</a:t>
            </a:r>
            <a:endParaRPr lang="en-US" sz="1200" dirty="0"/>
          </a:p>
        </p:txBody>
      </p:sp>
      <p:pic>
        <p:nvPicPr>
          <p:cNvPr id="19" name="shot-74" descr="Playground">
            <a:hlinkClick r:id="rId16" tooltip=""/>
          </p:cNvPr>
          <p:cNvPicPr>
            <a:picLocks noChangeAspect="1"/>
          </p:cNvPicPr>
          <p:nvPr/>
        </p:nvPicPr>
        <p:blipFill>
          <a:blip r:embed="rId15"/>
          <a:srcRect l="0" r="0" t="0" b="0"/>
          <a:stretch/>
        </p:blipFill>
        <p:spPr>
          <a:xfrm>
            <a:off x="6720840" y="3038666"/>
            <a:ext cx="1874520" cy="1054418"/>
          </a:xfrm>
          <a:prstGeom prst="rect">
            <a:avLst/>
          </a:prstGeom>
        </p:spPr>
      </p:pic>
      <p:sp>
        <p:nvSpPr>
          <p:cNvPr id="20" name="shot-caption-75"/>
          <p:cNvSpPr txBox="1"/>
          <p:nvPr/>
        </p:nvSpPr>
        <p:spPr>
          <a:xfrm>
            <a:off x="6720840" y="4138803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Playground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the framework itself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09 · WHAT WE LEARNED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Rules that keep it working everywhere</a:t>
            </a:r>
            <a:endParaRPr lang="en-US" sz="3000" dirty="0"/>
          </a:p>
        </p:txBody>
      </p:sp>
      <p:sp>
        <p:nvSpPr>
          <p:cNvPr id="5" name="card-76"/>
          <p:cNvSpPr/>
          <p:nvPr/>
        </p:nvSpPr>
        <p:spPr>
          <a:xfrm>
            <a:off x="548640" y="1508760"/>
            <a:ext cx="3886200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" name="card-text-77"/>
          <p:cNvSpPr txBox="1"/>
          <p:nvPr/>
        </p:nvSpPr>
        <p:spPr>
          <a:xfrm>
            <a:off x="713232" y="1636776"/>
            <a:ext cx="3557016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Passthrough first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Things live in your room: a stage on the real floor or a desk at your height, measured from your head.</a:t>
            </a:r>
            <a:endParaRPr lang="en-US" sz="1600" dirty="0"/>
          </a:p>
        </p:txBody>
      </p:sp>
      <p:sp>
        <p:nvSpPr>
          <p:cNvPr id="7" name="card-78"/>
          <p:cNvSpPr/>
          <p:nvPr/>
        </p:nvSpPr>
        <p:spPr>
          <a:xfrm>
            <a:off x="4709160" y="1508760"/>
            <a:ext cx="3886200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8" name="card-text-79"/>
          <p:cNvSpPr txBox="1"/>
          <p:nvPr/>
        </p:nvSpPr>
        <p:spPr>
          <a:xfrm>
            <a:off x="4873752" y="1636776"/>
            <a:ext cx="3557016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Diorama scale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Big worlds become tabletop or floor miniatures you can walk around, and they can run faster so they don't read as slow motion.</a:t>
            </a:r>
            <a:endParaRPr lang="en-US" sz="1600" dirty="0"/>
          </a:p>
        </p:txBody>
      </p:sp>
      <p:sp>
        <p:nvSpPr>
          <p:cNvPr id="9" name="card-80"/>
          <p:cNvSpPr/>
          <p:nvPr/>
        </p:nvSpPr>
        <p:spPr>
          <a:xfrm>
            <a:off x="548640" y="3063240"/>
            <a:ext cx="3886200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card-text-81"/>
          <p:cNvSpPr txBox="1"/>
          <p:nvPr/>
        </p:nvSpPr>
        <p:spPr>
          <a:xfrm>
            <a:off x="713232" y="3191256"/>
            <a:ext cx="3557016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The console rides along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Panels follow the stage they control, and each can be dragged by its own bar.</a:t>
            </a:r>
            <a:endParaRPr lang="en-US" sz="1600" dirty="0"/>
          </a:p>
        </p:txBody>
      </p:sp>
      <p:sp>
        <p:nvSpPr>
          <p:cNvPr id="11" name="card-82"/>
          <p:cNvSpPr/>
          <p:nvPr/>
        </p:nvSpPr>
        <p:spPr>
          <a:xfrm>
            <a:off x="4709160" y="3063240"/>
            <a:ext cx="3886200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2" name="card-text-83"/>
          <p:cNvSpPr txBox="1"/>
          <p:nvPr/>
        </p:nvSpPr>
        <p:spPr>
          <a:xfrm>
            <a:off x="4873752" y="3191256"/>
            <a:ext cx="3557016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Light enough for glasses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Generated geometry, no heavy assets, so standalone headsets and puck-tethered see-through glasses keep up.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10 · WORKFLOW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How these were made</a:t>
            </a:r>
            <a:endParaRPr lang="en-US" sz="3000" dirty="0"/>
          </a:p>
        </p:txBody>
      </p:sp>
      <p:sp>
        <p:nvSpPr>
          <p:cNvPr id="5" name="node-84"/>
          <p:cNvSpPr/>
          <p:nvPr/>
        </p:nvSpPr>
        <p:spPr>
          <a:xfrm>
            <a:off x="548640" y="1554480"/>
            <a:ext cx="1389888" cy="777240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" name="node-text-85"/>
          <p:cNvSpPr txBox="1"/>
          <p:nvPr/>
        </p:nvSpPr>
        <p:spPr>
          <a:xfrm>
            <a:off x="603504" y="155448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Voice note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in the headset</a:t>
            </a:r>
            <a:endParaRPr lang="en-US" sz="1400" dirty="0"/>
          </a:p>
        </p:txBody>
      </p:sp>
      <p:sp>
        <p:nvSpPr>
          <p:cNvPr id="7" name="arrow-86"/>
          <p:cNvSpPr/>
          <p:nvPr/>
        </p:nvSpPr>
        <p:spPr>
          <a:xfrm>
            <a:off x="1975104" y="1943100"/>
            <a:ext cx="201168" cy="0"/>
          </a:xfrm>
          <a:prstGeom prst="line">
            <a:avLst/>
          </a:prstGeom>
          <a:noFill/>
          <a:ln w="1905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8" name="node-87"/>
          <p:cNvSpPr/>
          <p:nvPr/>
        </p:nvSpPr>
        <p:spPr>
          <a:xfrm>
            <a:off x="2212848" y="1554480"/>
            <a:ext cx="1389888" cy="777240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node-text-88"/>
          <p:cNvSpPr txBox="1"/>
          <p:nvPr/>
        </p:nvSpPr>
        <p:spPr>
          <a:xfrm>
            <a:off x="2267712" y="155448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AI agent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edits the world</a:t>
            </a:r>
            <a:endParaRPr lang="en-US" sz="1400" dirty="0"/>
          </a:p>
        </p:txBody>
      </p:sp>
      <p:sp>
        <p:nvSpPr>
          <p:cNvPr id="10" name="arrow-89"/>
          <p:cNvSpPr/>
          <p:nvPr/>
        </p:nvSpPr>
        <p:spPr>
          <a:xfrm>
            <a:off x="3639312" y="1943100"/>
            <a:ext cx="201168" cy="0"/>
          </a:xfrm>
          <a:prstGeom prst="line">
            <a:avLst/>
          </a:prstGeom>
          <a:noFill/>
          <a:ln w="1905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11" name="node-90"/>
          <p:cNvSpPr/>
          <p:nvPr/>
        </p:nvSpPr>
        <p:spPr>
          <a:xfrm>
            <a:off x="3877056" y="1554480"/>
            <a:ext cx="1389888" cy="777240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2" name="node-text-91"/>
          <p:cNvSpPr txBox="1"/>
          <p:nvPr/>
        </p:nvSpPr>
        <p:spPr>
          <a:xfrm>
            <a:off x="3931920" y="155448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Headless tests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screenshots · checks</a:t>
            </a:r>
            <a:endParaRPr lang="en-US" sz="1400" dirty="0"/>
          </a:p>
        </p:txBody>
      </p:sp>
      <p:sp>
        <p:nvSpPr>
          <p:cNvPr id="13" name="arrow-92"/>
          <p:cNvSpPr/>
          <p:nvPr/>
        </p:nvSpPr>
        <p:spPr>
          <a:xfrm>
            <a:off x="5303520" y="1943100"/>
            <a:ext cx="201168" cy="0"/>
          </a:xfrm>
          <a:prstGeom prst="line">
            <a:avLst/>
          </a:prstGeom>
          <a:noFill/>
          <a:ln w="1905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14" name="node-93"/>
          <p:cNvSpPr/>
          <p:nvPr/>
        </p:nvSpPr>
        <p:spPr>
          <a:xfrm>
            <a:off x="5541264" y="1554480"/>
            <a:ext cx="1389888" cy="777240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5" name="node-text-94"/>
          <p:cNvSpPr txBox="1"/>
          <p:nvPr/>
        </p:nvSpPr>
        <p:spPr>
          <a:xfrm>
            <a:off x="5596128" y="155448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/dev page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try in a headset</a:t>
            </a:r>
            <a:endParaRPr lang="en-US" sz="1400" dirty="0"/>
          </a:p>
        </p:txBody>
      </p:sp>
      <p:sp>
        <p:nvSpPr>
          <p:cNvPr id="16" name="arrow-95"/>
          <p:cNvSpPr/>
          <p:nvPr/>
        </p:nvSpPr>
        <p:spPr>
          <a:xfrm>
            <a:off x="6967728" y="1943100"/>
            <a:ext cx="201168" cy="0"/>
          </a:xfrm>
          <a:prstGeom prst="line">
            <a:avLst/>
          </a:prstGeom>
          <a:noFill/>
          <a:ln w="1905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17" name="node-96"/>
          <p:cNvSpPr/>
          <p:nvPr/>
        </p:nvSpPr>
        <p:spPr>
          <a:xfrm>
            <a:off x="7205472" y="1554480"/>
            <a:ext cx="1389888" cy="777240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 w="25400">
            <a:solidFill>
              <a:schemeClr val="accent1"/>
            </a:solidFill>
            <a:prstDash val="solid"/>
          </a:ln>
        </p:spPr>
      </p:sp>
      <p:sp>
        <p:nvSpPr>
          <p:cNvPr id="18" name="node-text-97"/>
          <p:cNvSpPr txBox="1"/>
          <p:nvPr/>
        </p:nvSpPr>
        <p:spPr>
          <a:xfrm>
            <a:off x="7260336" y="155448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Release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site + CodePen</a:t>
            </a:r>
            <a:endParaRPr lang="en-US" sz="1400" dirty="0"/>
          </a:p>
        </p:txBody>
      </p:sp>
      <p:sp>
        <p:nvSpPr>
          <p:cNvPr id="19" name="bullets-98"/>
          <p:cNvSpPr txBox="1"/>
          <p:nvPr/>
        </p:nvSpPr>
        <p:spPr>
          <a:xfrm>
            <a:off x="548640" y="2697480"/>
            <a:ext cx="8046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—"/>
            </a:pPr>
            <a:r>
              <a:rPr lang="en-US" sz="1400" b="1" dirty="0">
                <a:solidFill>
                  <a:schemeClr val="tx1"/>
                </a:solidFill>
              </a:rPr>
              <a:t>The framework is the stable part: </a:t>
            </a:r>
            <a:pPr indent="0" marL="0">
              <a:spcAft>
                <a:spcPts val="9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the agent only writes the world, so interaction quality never regresses.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—"/>
            </a:pPr>
            <a:r>
              <a:rPr lang="en-US" sz="1400" b="1" dirty="0">
                <a:solidFill>
                  <a:schemeClr val="tx1"/>
                </a:solidFill>
              </a:rPr>
              <a:t>Rules live in the repo: </a:t>
            </a:r>
            <a:pPr indent="0" marL="0">
              <a:spcAft>
                <a:spcPts val="9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"one Enter button, passthrough first" is written down once and followed every time.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—"/>
            </a:pPr>
            <a:r>
              <a:rPr lang="en-US" sz="1400" b="1" dirty="0">
                <a:solidFill>
                  <a:schemeClr val="tx1"/>
                </a:solidFill>
              </a:rPr>
              <a:t>Every change is shown before it ships: </a:t>
            </a:r>
            <a:pPr indent="0" marL="0">
              <a:spcAft>
                <a:spcPts val="9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screenshots, measured trajectories, a test page.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DEMO · THANK YOU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Put on a headset and open a link</a:t>
            </a:r>
            <a:endParaRPr lang="en-US" sz="3000" dirty="0"/>
          </a:p>
        </p:txBody>
      </p:sp>
      <p:sp>
        <p:nvSpPr>
          <p:cNvPr id="5" name="lead"/>
          <p:cNvSpPr txBox="1"/>
          <p:nvPr/>
        </p:nvSpPr>
        <p:spPr>
          <a:xfrm>
            <a:off x="548640" y="14630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Any WebXR browser: Quest, PICO, Vision Pro, Galaxy XR. On a laptop, everything runs as a desktop preview.</a:t>
            </a:r>
            <a:endParaRPr lang="en-US" sz="1600" dirty="0"/>
          </a:p>
        </p:txBody>
      </p:sp>
      <p:sp>
        <p:nvSpPr>
          <p:cNvPr id="6" name="pill-99"/>
          <p:cNvSpPr/>
          <p:nvPr/>
        </p:nvSpPr>
        <p:spPr>
          <a:xfrm>
            <a:off x="548640" y="2286000"/>
            <a:ext cx="1874520" cy="502920"/>
          </a:xfrm>
          <a:prstGeom prst="roundRect">
            <a:avLst>
              <a:gd name="adj" fmla="val 49091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7" name="pill-text-100">
            <a:hlinkClick r:id="rId1" tooltip=""/>
          </p:cNvPr>
          <p:cNvSpPr txBox="1"/>
          <p:nvPr/>
        </p:nvSpPr>
        <p:spPr>
          <a:xfrm>
            <a:off x="548640" y="228600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u="sng" dirty="0">
                <a:solidFill>
                  <a:schemeClr val="tx1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Interaction Playground ↗</a:t>
            </a:r>
            <a:endParaRPr lang="en-US" sz="1300" dirty="0"/>
          </a:p>
        </p:txBody>
      </p:sp>
      <p:sp>
        <p:nvSpPr>
          <p:cNvPr id="8" name="pill-101"/>
          <p:cNvSpPr/>
          <p:nvPr/>
        </p:nvSpPr>
        <p:spPr>
          <a:xfrm>
            <a:off x="2606040" y="2286000"/>
            <a:ext cx="1874520" cy="502920"/>
          </a:xfrm>
          <a:prstGeom prst="roundRect">
            <a:avLst>
              <a:gd name="adj" fmla="val 49091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pill-text-102">
            <a:hlinkClick r:id="rId2" tooltip=""/>
          </p:cNvPr>
          <p:cNvSpPr txBox="1"/>
          <p:nvPr/>
        </p:nvSpPr>
        <p:spPr>
          <a:xfrm>
            <a:off x="2606040" y="228600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u="sng" dirty="0">
                <a:solidFill>
                  <a:schemeClr val="tx1"/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Microduck XR ↗</a:t>
            </a:r>
            <a:endParaRPr lang="en-US" sz="1300" dirty="0"/>
          </a:p>
        </p:txBody>
      </p:sp>
      <p:sp>
        <p:nvSpPr>
          <p:cNvPr id="10" name="pill-103"/>
          <p:cNvSpPr/>
          <p:nvPr/>
        </p:nvSpPr>
        <p:spPr>
          <a:xfrm>
            <a:off x="4663440" y="2286000"/>
            <a:ext cx="1874520" cy="502920"/>
          </a:xfrm>
          <a:prstGeom prst="roundRect">
            <a:avLst>
              <a:gd name="adj" fmla="val 49091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1" name="pill-text-104">
            <a:hlinkClick r:id="rId3" tooltip=""/>
          </p:cNvPr>
          <p:cNvSpPr txBox="1"/>
          <p:nvPr/>
        </p:nvSpPr>
        <p:spPr>
          <a:xfrm>
            <a:off x="4663440" y="228600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u="sng" dirty="0">
                <a:solidFill>
                  <a:schemeClr val="tx1"/>
                </a:solidFill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Roadster Night ↗</a:t>
            </a:r>
            <a:endParaRPr lang="en-US" sz="1300" dirty="0"/>
          </a:p>
        </p:txBody>
      </p:sp>
      <p:sp>
        <p:nvSpPr>
          <p:cNvPr id="12" name="pill-105"/>
          <p:cNvSpPr/>
          <p:nvPr/>
        </p:nvSpPr>
        <p:spPr>
          <a:xfrm>
            <a:off x="6720840" y="2286000"/>
            <a:ext cx="1874520" cy="502920"/>
          </a:xfrm>
          <a:prstGeom prst="roundRect">
            <a:avLst>
              <a:gd name="adj" fmla="val 49091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3" name="pill-text-106">
            <a:hlinkClick r:id="rId4" tooltip=""/>
          </p:cNvPr>
          <p:cNvSpPr txBox="1"/>
          <p:nvPr/>
        </p:nvSpPr>
        <p:spPr>
          <a:xfrm>
            <a:off x="6720840" y="228600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u="sng" dirty="0">
                <a:solidFill>
                  <a:schemeClr val="tx1"/>
                </a:solidFill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Framework page ↗</a:t>
            </a:r>
            <a:endParaRPr lang="en-US" sz="1300" dirty="0"/>
          </a:p>
        </p:txBody>
      </p:sp>
      <p:pic>
        <p:nvPicPr>
          <p:cNvPr id="7" name="closing-video">
            <a:hlinkClick r:id="" action="ppaction://media"/>
          </p:cNvPr>
          <p:cNvPicPr>
            <a:picLocks noChangeAspect="1"/>
          </p:cNvPicPr>
          <p:nvPr>
            <a:videoFile r:link="rId5"/>
            <p:extLst>
              <p:ext uri="{DAA4B4D4-6D71-4841-9C94-3DE7FCFB9230}">
                <p14:media xmlns:p14="http://schemas.microsoft.com/office/powerpoint/2010/main" r:embed="rId6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4937760" y="2971800"/>
            <a:ext cx="3657600" cy="1851660"/>
          </a:xfrm>
          <a:prstGeom prst="rect">
            <a:avLst/>
          </a:prstGeom>
        </p:spPr>
      </p:pic>
      <p:sp>
        <p:nvSpPr>
          <p:cNvPr id="15" name="contact"/>
          <p:cNvSpPr txBox="1"/>
          <p:nvPr/>
        </p:nvSpPr>
        <p:spPr>
          <a:xfrm>
            <a:off x="548640" y="315468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Rongxuan Mu</a:t>
            </a:r>
            <a:endParaRPr lang="en-US" sz="2000" dirty="0"/>
          </a:p>
          <a:p>
            <a:pPr indent="0" marL="0">
              <a:buNone/>
            </a:pPr>
            <a:r>
              <a:rPr lang="en-US" sz="2000" u="sng" dirty="0">
                <a:solidFill>
                  <a:schemeClr val="accent1"/>
                </a:solidFill>
                <a:hlinkClick r:id="rId8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rongxuanmu.com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VibeXR Night">
  <a:themeElements>
    <a:clrScheme name="VibeXR Night">
      <a:dk1>
        <a:srgbClr val="F4F5F7"/>
      </a:dk1>
      <a:lt1>
        <a:srgbClr val="050608"/>
      </a:lt1>
      <a:dk2>
        <a:srgbClr val="A3A8B0"/>
      </a:dk2>
      <a:lt2>
        <a:srgbClr val="14171C"/>
      </a:lt2>
      <a:accent1>
        <a:srgbClr val="7FB2FF"/>
      </a:accent1>
      <a:accent2>
        <a:srgbClr val="FFCC66"/>
      </a:accent2>
      <a:accent3>
        <a:srgbClr val="4A505A"/>
      </a:accent3>
      <a:accent4>
        <a:srgbClr val="2A2F37"/>
      </a:accent4>
      <a:accent5>
        <a:srgbClr val="DFE6F3"/>
      </a:accent5>
      <a:accent6>
        <a:srgbClr val="7F8A9C"/>
      </a:accent6>
      <a:hlink>
        <a:srgbClr val="7FB2FF"/>
      </a:hlink>
      <a:folHlink>
        <a:srgbClr val="A3A8B0"/>
      </a:folHlink>
    </a:clrScheme>
    <a:fontScheme name="VibeXR Night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VibeXR Sharing Slides</dc:title>
  <dc:subject>WebXR, today's frameworks, and the VibeXR approach</dc:subject>
  <dc:creator>Rongxuan Mu</dc:creator>
  <cp:lastModifiedBy>Rongxuan Mu</cp:lastModifiedBy>
  <cp:revision>1</cp:revision>
  <dcterms:created xsi:type="dcterms:W3CDTF">2026-10-17T05:51:57Z</dcterms:created>
  <dcterms:modified xsi:type="dcterms:W3CDTF">2026-10-17T05:51:57Z</dcterms:modified>
</cp:coreProperties>
</file>